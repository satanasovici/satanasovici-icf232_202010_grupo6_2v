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12"/>
  </p:notesMasterIdLst>
  <p:sldIdLst>
    <p:sldId id="256" r:id="rId3"/>
    <p:sldId id="1008" r:id="rId4"/>
    <p:sldId id="1010" r:id="rId5"/>
    <p:sldId id="1011" r:id="rId6"/>
    <p:sldId id="1012" r:id="rId7"/>
    <p:sldId id="1013" r:id="rId8"/>
    <p:sldId id="1014" r:id="rId9"/>
    <p:sldId id="1015" r:id="rId10"/>
    <p:sldId id="101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envenido" id="{E75E278A-FF0E-49A4-B170-79828D63BBAD}">
          <p14:sldIdLst>
            <p14:sldId id="256"/>
            <p14:sldId id="1008"/>
            <p14:sldId id="1010"/>
            <p14:sldId id="1011"/>
            <p14:sldId id="1012"/>
            <p14:sldId id="1013"/>
            <p14:sldId id="1014"/>
            <p14:sldId id="1015"/>
            <p14:sldId id="10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" name="Autor" initials="A" lastIdx="0" clrIdx="1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DD462F"/>
    <a:srgbClr val="CC00CC"/>
    <a:srgbClr val="ECE1CA"/>
    <a:srgbClr val="D2B4A6"/>
    <a:srgbClr val="734F29"/>
    <a:srgbClr val="D24726"/>
    <a:srgbClr val="AEB785"/>
    <a:srgbClr val="EFD5A2"/>
    <a:srgbClr val="3B3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4" autoAdjust="0"/>
    <p:restoredTop sz="56439" autoAdjust="0"/>
  </p:normalViewPr>
  <p:slideViewPr>
    <p:cSldViewPr snapToGrid="0">
      <p:cViewPr varScale="1">
        <p:scale>
          <a:sx n="86" d="100"/>
          <a:sy n="86" d="100"/>
        </p:scale>
        <p:origin x="542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Backlock_final__Trazabilidad_V1.2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Backlock_final__Trazabilidad_V1.2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alte\Desktop\Backlock_final__Trazabilidad_V1.2_1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Backlock_final__Trazabilidad_V1.2_1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alte\Downloads\Backlock_final__Trazabilidad_V1.2_7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Burndown</a:t>
            </a:r>
            <a:r>
              <a:rPr lang="es-CL" baseline="0"/>
              <a:t> Chart</a:t>
            </a:r>
            <a:endParaRPr lang="es-CL"/>
          </a:p>
        </c:rich>
      </c:tx>
      <c:layout>
        <c:manualLayout>
          <c:xMode val="edge"/>
          <c:yMode val="edge"/>
          <c:x val="0.35968044619422573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Burndown!$E$4</c:f>
              <c:strCache>
                <c:ptCount val="1"/>
                <c:pt idx="0">
                  <c:v>Esperado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Burndown!$E$5:$E$16</c:f>
              <c:numCache>
                <c:formatCode>0</c:formatCode>
                <c:ptCount val="12"/>
                <c:pt idx="0">
                  <c:v>349</c:v>
                </c:pt>
                <c:pt idx="1">
                  <c:v>317.27272727272725</c:v>
                </c:pt>
                <c:pt idx="2">
                  <c:v>285.5454545454545</c:v>
                </c:pt>
                <c:pt idx="3">
                  <c:v>253.81818181818178</c:v>
                </c:pt>
                <c:pt idx="4">
                  <c:v>222.09090909090907</c:v>
                </c:pt>
                <c:pt idx="5">
                  <c:v>190.36363636363635</c:v>
                </c:pt>
                <c:pt idx="6">
                  <c:v>158.63636363636363</c:v>
                </c:pt>
                <c:pt idx="7">
                  <c:v>126.90909090909091</c:v>
                </c:pt>
                <c:pt idx="8">
                  <c:v>95.181818181818187</c:v>
                </c:pt>
                <c:pt idx="9">
                  <c:v>63.45454545454546</c:v>
                </c:pt>
                <c:pt idx="10">
                  <c:v>31.727272727272734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E4-4C44-A816-40CB96F591BE}"/>
            </c:ext>
          </c:extLst>
        </c:ser>
        <c:ser>
          <c:idx val="1"/>
          <c:order val="1"/>
          <c:tx>
            <c:strRef>
              <c:f>Burndown!$F$4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Burndown!$F$5:$F$16</c:f>
              <c:numCache>
                <c:formatCode>General</c:formatCode>
                <c:ptCount val="12"/>
                <c:pt idx="0" formatCode="0">
                  <c:v>301</c:v>
                </c:pt>
                <c:pt idx="1">
                  <c:v>301</c:v>
                </c:pt>
                <c:pt idx="2">
                  <c:v>294</c:v>
                </c:pt>
                <c:pt idx="3">
                  <c:v>294</c:v>
                </c:pt>
                <c:pt idx="4">
                  <c:v>284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E4-4C44-A816-40CB96F59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9697440"/>
        <c:axId val="383776688"/>
      </c:lineChart>
      <c:catAx>
        <c:axId val="379697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semanas</a:t>
                </a:r>
              </a:p>
            </c:rich>
          </c:tx>
          <c:layout>
            <c:manualLayout>
              <c:xMode val="edge"/>
              <c:yMode val="edge"/>
              <c:x val="0.46388757655293089"/>
              <c:y val="0.80109358670591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3776688"/>
        <c:crosses val="autoZero"/>
        <c:auto val="1"/>
        <c:lblAlgn val="ctr"/>
        <c:lblOffset val="100"/>
        <c:noMultiLvlLbl val="0"/>
      </c:catAx>
      <c:valAx>
        <c:axId val="38377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puntos de Historia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969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Burndown</a:t>
            </a:r>
            <a:r>
              <a:rPr lang="es-CL" baseline="0"/>
              <a:t> Chart</a:t>
            </a:r>
            <a:endParaRPr lang="es-CL"/>
          </a:p>
        </c:rich>
      </c:tx>
      <c:layout>
        <c:manualLayout>
          <c:xMode val="edge"/>
          <c:yMode val="edge"/>
          <c:x val="0.35968044619422573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Burndown!$E$4</c:f>
              <c:strCache>
                <c:ptCount val="1"/>
                <c:pt idx="0">
                  <c:v>Esperado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Burndown!$E$5:$E$16</c:f>
              <c:numCache>
                <c:formatCode>0</c:formatCode>
                <c:ptCount val="12"/>
                <c:pt idx="0">
                  <c:v>349</c:v>
                </c:pt>
                <c:pt idx="1">
                  <c:v>317.27272727272725</c:v>
                </c:pt>
                <c:pt idx="2">
                  <c:v>285.5454545454545</c:v>
                </c:pt>
                <c:pt idx="3">
                  <c:v>253.81818181818178</c:v>
                </c:pt>
                <c:pt idx="4">
                  <c:v>222.09090909090907</c:v>
                </c:pt>
                <c:pt idx="5">
                  <c:v>190.36363636363635</c:v>
                </c:pt>
                <c:pt idx="6">
                  <c:v>158.63636363636363</c:v>
                </c:pt>
                <c:pt idx="7">
                  <c:v>126.90909090909091</c:v>
                </c:pt>
                <c:pt idx="8">
                  <c:v>95.181818181818187</c:v>
                </c:pt>
                <c:pt idx="9">
                  <c:v>63.45454545454546</c:v>
                </c:pt>
                <c:pt idx="10">
                  <c:v>31.727272727272734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47-4F30-A37C-0555FF2EEBEA}"/>
            </c:ext>
          </c:extLst>
        </c:ser>
        <c:ser>
          <c:idx val="1"/>
          <c:order val="1"/>
          <c:tx>
            <c:strRef>
              <c:f>Burndown!$F$4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Burndown!$F$5:$F$16</c:f>
              <c:numCache>
                <c:formatCode>General</c:formatCode>
                <c:ptCount val="12"/>
                <c:pt idx="0" formatCode="0">
                  <c:v>301</c:v>
                </c:pt>
                <c:pt idx="1">
                  <c:v>301</c:v>
                </c:pt>
                <c:pt idx="2">
                  <c:v>294</c:v>
                </c:pt>
                <c:pt idx="3">
                  <c:v>294</c:v>
                </c:pt>
                <c:pt idx="4">
                  <c:v>284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47-4F30-A37C-0555FF2EEB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9697440"/>
        <c:axId val="383776688"/>
      </c:lineChart>
      <c:catAx>
        <c:axId val="379697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semanas</a:t>
                </a:r>
              </a:p>
            </c:rich>
          </c:tx>
          <c:layout>
            <c:manualLayout>
              <c:xMode val="edge"/>
              <c:yMode val="edge"/>
              <c:x val="0.46388757655293089"/>
              <c:y val="0.80109358670591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3776688"/>
        <c:crosses val="autoZero"/>
        <c:auto val="1"/>
        <c:lblAlgn val="ctr"/>
        <c:lblOffset val="100"/>
        <c:noMultiLvlLbl val="0"/>
      </c:catAx>
      <c:valAx>
        <c:axId val="38377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puntos de Historia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969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Burndown</a:t>
            </a:r>
            <a:r>
              <a:rPr lang="es-CL" baseline="0"/>
              <a:t> Chart</a:t>
            </a:r>
            <a:endParaRPr lang="es-CL"/>
          </a:p>
        </c:rich>
      </c:tx>
      <c:layout>
        <c:manualLayout>
          <c:xMode val="edge"/>
          <c:yMode val="edge"/>
          <c:x val="0.35968044619422573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17685479554490757"/>
          <c:y val="5.4863761814611001E-2"/>
          <c:w val="0.8203187645564437"/>
          <c:h val="0.4520423340016187"/>
        </c:manualLayout>
      </c:layout>
      <c:lineChart>
        <c:grouping val="standard"/>
        <c:varyColors val="0"/>
        <c:ser>
          <c:idx val="0"/>
          <c:order val="0"/>
          <c:tx>
            <c:strRef>
              <c:f>Burndown!$E$4</c:f>
              <c:strCache>
                <c:ptCount val="1"/>
                <c:pt idx="0">
                  <c:v>Esperado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Burndown!$E$5:$E$16</c:f>
              <c:numCache>
                <c:formatCode>0</c:formatCode>
                <c:ptCount val="12"/>
                <c:pt idx="0">
                  <c:v>349</c:v>
                </c:pt>
                <c:pt idx="1">
                  <c:v>317.27272727272725</c:v>
                </c:pt>
                <c:pt idx="2">
                  <c:v>285.5454545454545</c:v>
                </c:pt>
                <c:pt idx="3">
                  <c:v>253.81818181818178</c:v>
                </c:pt>
                <c:pt idx="4">
                  <c:v>222.09090909090907</c:v>
                </c:pt>
                <c:pt idx="5">
                  <c:v>190.36363636363635</c:v>
                </c:pt>
                <c:pt idx="6">
                  <c:v>158.63636363636363</c:v>
                </c:pt>
                <c:pt idx="7">
                  <c:v>126.90909090909091</c:v>
                </c:pt>
                <c:pt idx="8">
                  <c:v>95.181818181818187</c:v>
                </c:pt>
                <c:pt idx="9">
                  <c:v>63.45454545454546</c:v>
                </c:pt>
                <c:pt idx="10">
                  <c:v>31.727272727272734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2F-43FA-81B0-543C352F66C0}"/>
            </c:ext>
          </c:extLst>
        </c:ser>
        <c:ser>
          <c:idx val="1"/>
          <c:order val="1"/>
          <c:tx>
            <c:strRef>
              <c:f>Burndown!$F$4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Burndown!$F$5:$F$16</c:f>
              <c:numCache>
                <c:formatCode>General</c:formatCode>
                <c:ptCount val="12"/>
                <c:pt idx="0" formatCode="0">
                  <c:v>301</c:v>
                </c:pt>
                <c:pt idx="1">
                  <c:v>301</c:v>
                </c:pt>
                <c:pt idx="2">
                  <c:v>294</c:v>
                </c:pt>
                <c:pt idx="3">
                  <c:v>294</c:v>
                </c:pt>
                <c:pt idx="4">
                  <c:v>253</c:v>
                </c:pt>
                <c:pt idx="5">
                  <c:v>244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2F-43FA-81B0-543C352F6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9697440"/>
        <c:axId val="383776688"/>
      </c:lineChart>
      <c:catAx>
        <c:axId val="379697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semanas</a:t>
                </a:r>
              </a:p>
            </c:rich>
          </c:tx>
          <c:layout>
            <c:manualLayout>
              <c:xMode val="edge"/>
              <c:yMode val="edge"/>
              <c:x val="0.46388757655293089"/>
              <c:y val="0.80109358670591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3776688"/>
        <c:crosses val="autoZero"/>
        <c:auto val="1"/>
        <c:lblAlgn val="ctr"/>
        <c:lblOffset val="100"/>
        <c:noMultiLvlLbl val="0"/>
      </c:catAx>
      <c:valAx>
        <c:axId val="38377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puntos de Historia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969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Burndown</a:t>
            </a:r>
            <a:r>
              <a:rPr lang="es-CL" baseline="0"/>
              <a:t> Chart</a:t>
            </a:r>
            <a:endParaRPr lang="es-CL"/>
          </a:p>
        </c:rich>
      </c:tx>
      <c:layout>
        <c:manualLayout>
          <c:xMode val="edge"/>
          <c:yMode val="edge"/>
          <c:x val="0.35968044619422573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Burndown!$E$4</c:f>
              <c:strCache>
                <c:ptCount val="1"/>
                <c:pt idx="0">
                  <c:v>Esperado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Burndown!$E$5:$E$16</c:f>
              <c:numCache>
                <c:formatCode>0</c:formatCode>
                <c:ptCount val="12"/>
                <c:pt idx="0">
                  <c:v>349</c:v>
                </c:pt>
                <c:pt idx="1">
                  <c:v>317.27272727272725</c:v>
                </c:pt>
                <c:pt idx="2">
                  <c:v>285.5454545454545</c:v>
                </c:pt>
                <c:pt idx="3">
                  <c:v>253.81818181818178</c:v>
                </c:pt>
                <c:pt idx="4">
                  <c:v>222.09090909090907</c:v>
                </c:pt>
                <c:pt idx="5">
                  <c:v>190.36363636363635</c:v>
                </c:pt>
                <c:pt idx="6">
                  <c:v>158.63636363636363</c:v>
                </c:pt>
                <c:pt idx="7">
                  <c:v>126.90909090909091</c:v>
                </c:pt>
                <c:pt idx="8">
                  <c:v>95.181818181818187</c:v>
                </c:pt>
                <c:pt idx="9">
                  <c:v>63.45454545454546</c:v>
                </c:pt>
                <c:pt idx="10">
                  <c:v>31.727272727272734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FE-43F8-9450-D6E0F0A8537C}"/>
            </c:ext>
          </c:extLst>
        </c:ser>
        <c:ser>
          <c:idx val="1"/>
          <c:order val="1"/>
          <c:tx>
            <c:strRef>
              <c:f>Burndown!$F$4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Burndown!$F$5:$F$16</c:f>
              <c:numCache>
                <c:formatCode>General</c:formatCode>
                <c:ptCount val="12"/>
                <c:pt idx="0" formatCode="0">
                  <c:v>301</c:v>
                </c:pt>
                <c:pt idx="1">
                  <c:v>301</c:v>
                </c:pt>
                <c:pt idx="2">
                  <c:v>294</c:v>
                </c:pt>
                <c:pt idx="3">
                  <c:v>294</c:v>
                </c:pt>
                <c:pt idx="4">
                  <c:v>253</c:v>
                </c:pt>
                <c:pt idx="5">
                  <c:v>244</c:v>
                </c:pt>
                <c:pt idx="6">
                  <c:v>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FE-43F8-9450-D6E0F0A853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9697440"/>
        <c:axId val="383776688"/>
      </c:lineChart>
      <c:catAx>
        <c:axId val="379697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semanas</a:t>
                </a:r>
              </a:p>
            </c:rich>
          </c:tx>
          <c:layout>
            <c:manualLayout>
              <c:xMode val="edge"/>
              <c:yMode val="edge"/>
              <c:x val="0.46388757655293089"/>
              <c:y val="0.80109358670591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3776688"/>
        <c:crosses val="autoZero"/>
        <c:auto val="1"/>
        <c:lblAlgn val="ctr"/>
        <c:lblOffset val="100"/>
        <c:noMultiLvlLbl val="0"/>
      </c:catAx>
      <c:valAx>
        <c:axId val="38377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puntos de Historia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969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Burndown</a:t>
            </a:r>
            <a:r>
              <a:rPr lang="es-CL" baseline="0"/>
              <a:t> Chart</a:t>
            </a:r>
            <a:endParaRPr lang="es-CL"/>
          </a:p>
        </c:rich>
      </c:tx>
      <c:layout>
        <c:manualLayout>
          <c:xMode val="edge"/>
          <c:yMode val="edge"/>
          <c:x val="0.35968044619422573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0.16874750486286302"/>
          <c:y val="0.15863377609108156"/>
          <c:w val="0.82855562350822654"/>
          <c:h val="0.53736679499502793"/>
        </c:manualLayout>
      </c:layout>
      <c:lineChart>
        <c:grouping val="standard"/>
        <c:varyColors val="0"/>
        <c:ser>
          <c:idx val="0"/>
          <c:order val="0"/>
          <c:tx>
            <c:strRef>
              <c:f>Burndown!$E$4</c:f>
              <c:strCache>
                <c:ptCount val="1"/>
                <c:pt idx="0">
                  <c:v>Esperado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Burndown!$E$5:$E$16</c:f>
              <c:numCache>
                <c:formatCode>0</c:formatCode>
                <c:ptCount val="12"/>
                <c:pt idx="0">
                  <c:v>349</c:v>
                </c:pt>
                <c:pt idx="1">
                  <c:v>317.27272727272725</c:v>
                </c:pt>
                <c:pt idx="2">
                  <c:v>285.5454545454545</c:v>
                </c:pt>
                <c:pt idx="3">
                  <c:v>253.81818181818178</c:v>
                </c:pt>
                <c:pt idx="4">
                  <c:v>222.09090909090907</c:v>
                </c:pt>
                <c:pt idx="5">
                  <c:v>190.36363636363635</c:v>
                </c:pt>
                <c:pt idx="6">
                  <c:v>158.63636363636363</c:v>
                </c:pt>
                <c:pt idx="7">
                  <c:v>126.90909090909091</c:v>
                </c:pt>
                <c:pt idx="8">
                  <c:v>95.181818181818187</c:v>
                </c:pt>
                <c:pt idx="9">
                  <c:v>63.45454545454546</c:v>
                </c:pt>
                <c:pt idx="10">
                  <c:v>31.727272727272734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F3-4181-9B7A-BE5A9ABB817C}"/>
            </c:ext>
          </c:extLst>
        </c:ser>
        <c:ser>
          <c:idx val="1"/>
          <c:order val="1"/>
          <c:tx>
            <c:strRef>
              <c:f>Burndown!$F$4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Burndown!$D$5:$D$16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Burndown!$F$5:$F$16</c:f>
              <c:numCache>
                <c:formatCode>General</c:formatCode>
                <c:ptCount val="12"/>
                <c:pt idx="0" formatCode="0">
                  <c:v>301</c:v>
                </c:pt>
                <c:pt idx="1">
                  <c:v>301</c:v>
                </c:pt>
                <c:pt idx="2">
                  <c:v>294</c:v>
                </c:pt>
                <c:pt idx="3">
                  <c:v>294</c:v>
                </c:pt>
                <c:pt idx="4">
                  <c:v>253</c:v>
                </c:pt>
                <c:pt idx="5">
                  <c:v>244</c:v>
                </c:pt>
                <c:pt idx="6">
                  <c:v>265</c:v>
                </c:pt>
                <c:pt idx="7">
                  <c:v>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F3-4181-9B7A-BE5A9ABB81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79697440"/>
        <c:axId val="383776688"/>
      </c:lineChart>
      <c:catAx>
        <c:axId val="3796974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semanas</a:t>
                </a:r>
              </a:p>
            </c:rich>
          </c:tx>
          <c:layout>
            <c:manualLayout>
              <c:xMode val="edge"/>
              <c:yMode val="edge"/>
              <c:x val="0.46388757655293089"/>
              <c:y val="0.80109358670591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3776688"/>
        <c:crosses val="autoZero"/>
        <c:auto val="1"/>
        <c:lblAlgn val="ctr"/>
        <c:lblOffset val="100"/>
        <c:noMultiLvlLbl val="0"/>
      </c:catAx>
      <c:valAx>
        <c:axId val="38377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puntos de Historia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969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10/30/2020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914400">
              <a:buNone/>
            </a:pPr>
            <a:fld id="{DF61EA0F-A667-4B49-8422-0062BC55E249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 dirty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D7083-2812-4336-A862-6CB4E9DAA666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BAF15-D946-438F-BA57-43A568DB52D7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A5B98-0E43-43A4-8C2A-E00A6A883A04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536E-04DA-42C8-BC01-49FDB8623C5B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8660A-ACB5-4EAE-A29D-584DB55BAC5B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A2-7F47-4355-A40B-1D4E78D026D1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FF9F2-B4E6-461D-80C5-31D1DFDBE4F3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Haga clic para modificar el estilo de texto del patrón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Segundo nivel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Tercer nivel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Cuarto nivel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C08D-1485-4CDD-BD12-A2AAA137B289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2B1DD-5C24-46B3-BEAE-43189A8FCAFF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DB13-0979-4AFD-BE5D-BA943E81C2FF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095C1-F76B-4592-A3BF-48B4D1BF64A5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BA3BC-6560-4C09-A047-A8DF1A0DE359}" type="datetime1">
              <a:rPr lang="en-US" smtClean="0"/>
              <a:t>10/30/2020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anasovici/Satanasovici-ICF232_202010_Grupo6_2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noProof="1"/>
              <a:t>Grupo n°6</a:t>
            </a:r>
            <a:br>
              <a:rPr lang="es-ES" noProof="1"/>
            </a:br>
            <a:r>
              <a:rPr lang="en-US" dirty="0" err="1"/>
              <a:t>Digitalizacion</a:t>
            </a:r>
            <a:r>
              <a:rPr lang="en-US" dirty="0"/>
              <a:t> de una </a:t>
            </a:r>
            <a:r>
              <a:rPr lang="en-US" dirty="0" err="1"/>
              <a:t>Peluqueria</a:t>
            </a:r>
            <a:br>
              <a:rPr lang="en-US" dirty="0"/>
            </a:br>
            <a:endParaRPr lang="es-ES" noProof="1"/>
          </a:p>
        </p:txBody>
      </p:sp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>
          <a:xfrm>
            <a:off x="838200" y="4833413"/>
            <a:ext cx="10324603" cy="2024587"/>
          </a:xfrm>
        </p:spPr>
        <p:txBody>
          <a:bodyPr>
            <a:noAutofit/>
          </a:bodyPr>
          <a:lstStyle/>
          <a:p>
            <a:r>
              <a:rPr lang="en-US" sz="2000" dirty="0">
                <a:hlinkClick r:id="rId3"/>
              </a:rPr>
              <a:t>https://github.com/Satanasovici/Satanasovici-ICF232_202010_Grupo6_2v </a:t>
            </a:r>
            <a:endParaRPr lang="en-US" sz="2000" dirty="0"/>
          </a:p>
          <a:p>
            <a:r>
              <a:rPr lang="es-419" sz="2000" dirty="0"/>
              <a:t>Jefe de grupo: Brian </a:t>
            </a:r>
            <a:r>
              <a:rPr lang="es-419" sz="2000" dirty="0" err="1"/>
              <a:t>Atanasovici</a:t>
            </a:r>
            <a:r>
              <a:rPr lang="es-419" sz="2000" dirty="0"/>
              <a:t> - b.atanasovicidiaz@uandresbello.edu</a:t>
            </a:r>
          </a:p>
          <a:p>
            <a:br>
              <a:rPr lang="es-419" sz="2000" dirty="0"/>
            </a:br>
            <a:endParaRPr lang="es-419" sz="2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300" y="358463"/>
            <a:ext cx="2862134" cy="2661882"/>
          </a:xfrm>
          <a:prstGeom prst="rect">
            <a:avLst/>
          </a:prstGeom>
        </p:spPr>
      </p:pic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5DAA2-C00A-439A-AB31-0CE04E6CEC48}"/>
              </a:ext>
            </a:extLst>
          </p:cNvPr>
          <p:cNvSpPr txBox="1"/>
          <p:nvPr/>
        </p:nvSpPr>
        <p:spPr>
          <a:xfrm>
            <a:off x="9102300" y="4928091"/>
            <a:ext cx="306068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chemeClr val="accent2"/>
                </a:solidFill>
              </a:rPr>
              <a:t>Integrantes: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chemeClr val="accent2"/>
                </a:solidFill>
              </a:rPr>
              <a:t>Martin Barraza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chemeClr val="accent2"/>
                </a:solidFill>
              </a:rPr>
              <a:t>Brian </a:t>
            </a:r>
            <a:r>
              <a:rPr lang="es-419" sz="1400" dirty="0" err="1">
                <a:solidFill>
                  <a:schemeClr val="accent2"/>
                </a:solidFill>
              </a:rPr>
              <a:t>Atanasovici</a:t>
            </a:r>
            <a:endParaRPr lang="es-419" sz="14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chemeClr val="accent2"/>
                </a:solidFill>
              </a:rPr>
              <a:t>Luciano </a:t>
            </a:r>
            <a:r>
              <a:rPr lang="es-419" sz="1400" dirty="0" err="1">
                <a:solidFill>
                  <a:schemeClr val="accent2"/>
                </a:solidFill>
              </a:rPr>
              <a:t>Huenuvil</a:t>
            </a:r>
            <a:endParaRPr lang="es-419" sz="14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chemeClr val="accent2"/>
                </a:solidFill>
              </a:rPr>
              <a:t>Matías Espinoza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chemeClr val="accent2"/>
                </a:solidFill>
              </a:rPr>
              <a:t>Javier Cáceres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chemeClr val="accent2"/>
                </a:solidFill>
              </a:rPr>
              <a:t>Raúl Vásquez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Dashboard Semana 1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ángulo redondeado 4"/>
          <p:cNvSpPr/>
          <p:nvPr/>
        </p:nvSpPr>
        <p:spPr>
          <a:xfrm>
            <a:off x="0" y="1406711"/>
            <a:ext cx="2797459" cy="1419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Historias Totales : 24</a:t>
            </a:r>
          </a:p>
          <a:p>
            <a:pPr algn="ctr"/>
            <a:r>
              <a:rPr lang="es-419" dirty="0"/>
              <a:t>Puntaje Total : 376</a:t>
            </a:r>
          </a:p>
          <a:p>
            <a:pPr algn="ctr"/>
            <a:r>
              <a:rPr lang="es-419" dirty="0"/>
              <a:t>Número de Sprints (3)</a:t>
            </a:r>
          </a:p>
          <a:p>
            <a:pPr algn="ctr"/>
            <a:r>
              <a:rPr lang="es-419" dirty="0"/>
              <a:t>Velocidad último Sprint</a:t>
            </a:r>
          </a:p>
          <a:p>
            <a:pPr algn="ctr"/>
            <a:r>
              <a:rPr lang="es-419" dirty="0"/>
              <a:t>(48/1)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Ninguno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 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3797793" y="5368431"/>
            <a:ext cx="8348131" cy="14895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dirty="0"/>
              <a:t>Narrativa de avance del proyecto</a:t>
            </a:r>
          </a:p>
          <a:p>
            <a:pPr algn="ctr"/>
            <a:r>
              <a:rPr lang="es-CL" sz="1600" dirty="0"/>
              <a:t>Hitos relevantes: Se diseñó la página principal en conjunto con la página de registro e iniciar sesión para los clientes, luego creamos las modificaciones de datos personales y contraseña, este punto tardo mas de lo normal debido a complicaciones que tuvimos con las modificaciones, finalmente creamos la vista del catálogo.</a:t>
            </a:r>
            <a:endParaRPr lang="es-419" sz="1600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6247203" y="2244227"/>
            <a:ext cx="2358476" cy="8608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6, 8, 13, 14, 15,16,17,18,19,20,21,22,23 y 24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6247203" y="1470626"/>
            <a:ext cx="2358476" cy="5996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3 y 4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3288687" y="1470626"/>
            <a:ext cx="2564551" cy="82662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1,3,9,10 y 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11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#Casos de prueba:6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BAAFB-2E19-4580-9AFB-A88A7F03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74" y="2931739"/>
            <a:ext cx="3276600" cy="2248306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C147BEE-25A7-4DB9-8B25-F0D71DF8C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72298"/>
              </p:ext>
            </p:extLst>
          </p:nvPr>
        </p:nvGraphicFramePr>
        <p:xfrm>
          <a:off x="3559967" y="2627881"/>
          <a:ext cx="2564551" cy="2825115"/>
        </p:xfrm>
        <a:graphic>
          <a:graphicData uri="http://schemas.openxmlformats.org/drawingml/2006/table">
            <a:tbl>
              <a:tblPr/>
              <a:tblGrid>
                <a:gridCol w="507413">
                  <a:extLst>
                    <a:ext uri="{9D8B030D-6E8A-4147-A177-3AD203B41FA5}">
                      <a16:colId xmlns:a16="http://schemas.microsoft.com/office/drawing/2014/main" val="427328777"/>
                    </a:ext>
                  </a:extLst>
                </a:gridCol>
                <a:gridCol w="769577">
                  <a:extLst>
                    <a:ext uri="{9D8B030D-6E8A-4147-A177-3AD203B41FA5}">
                      <a16:colId xmlns:a16="http://schemas.microsoft.com/office/drawing/2014/main" val="1358731747"/>
                    </a:ext>
                  </a:extLst>
                </a:gridCol>
                <a:gridCol w="1287561">
                  <a:extLst>
                    <a:ext uri="{9D8B030D-6E8A-4147-A177-3AD203B41FA5}">
                      <a16:colId xmlns:a16="http://schemas.microsoft.com/office/drawing/2014/main" val="2538166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Semanas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Esperado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658510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709030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456858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334151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502516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466388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801119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255486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685570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41760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297664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876908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8298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762746"/>
                  </a:ext>
                </a:extLst>
              </a:tr>
              <a:tr h="14297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 puntos 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85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Dashboard Semana 2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ángulo redondeado 4"/>
          <p:cNvSpPr/>
          <p:nvPr/>
        </p:nvSpPr>
        <p:spPr>
          <a:xfrm>
            <a:off x="220210" y="1408816"/>
            <a:ext cx="2797459" cy="14197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Historias Totales : 26</a:t>
            </a:r>
          </a:p>
          <a:p>
            <a:pPr algn="ctr"/>
            <a:r>
              <a:rPr lang="es-419" dirty="0"/>
              <a:t>Puntaje Total : 349</a:t>
            </a:r>
          </a:p>
          <a:p>
            <a:pPr algn="ctr"/>
            <a:r>
              <a:rPr lang="es-419" dirty="0"/>
              <a:t>Número de Sprints (3)</a:t>
            </a:r>
          </a:p>
          <a:p>
            <a:pPr algn="ctr"/>
            <a:r>
              <a:rPr lang="es-419" dirty="0"/>
              <a:t>Velocidad último Sprint</a:t>
            </a:r>
          </a:p>
          <a:p>
            <a:pPr algn="ctr"/>
            <a:r>
              <a:rPr lang="es-419" dirty="0"/>
              <a:t>(48/2)</a:t>
            </a:r>
          </a:p>
        </p:txBody>
      </p:sp>
      <p:sp>
        <p:nvSpPr>
          <p:cNvPr id="9" name="Rectángulo redondeado 8"/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Ninguno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 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3797793" y="5225909"/>
            <a:ext cx="8348131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dirty="0"/>
              <a:t>Narrativa de avance del proyecto</a:t>
            </a:r>
          </a:p>
          <a:p>
            <a:pPr algn="ctr"/>
            <a:r>
              <a:rPr lang="es-CL" sz="1600" dirty="0"/>
              <a:t>Hitos relevantes: En esta semana incorporamos nuevas historias para el proyecto dentro de ellas tenemos la membresía de clientes, </a:t>
            </a:r>
            <a:r>
              <a:rPr lang="es-CL" sz="1600" dirty="0" err="1"/>
              <a:t>dise</a:t>
            </a:r>
            <a:r>
              <a:rPr lang="es-ES" sz="1600" dirty="0" err="1"/>
              <a:t>ño</a:t>
            </a:r>
            <a:r>
              <a:rPr lang="es-ES" sz="1600" dirty="0"/>
              <a:t> de la pagina principal y de la pagina del catalogo en si como finalización de forma que se puedan ver reflejados los precios de los servicios, de momento no se nos ha presentado ningún problema o inconveniente.</a:t>
            </a:r>
            <a:endParaRPr lang="es-419" sz="1600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9234868" y="3429000"/>
            <a:ext cx="2358476" cy="8608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2, 5, 6, 12, 14, 16, 20, 21, 22, 23, 24 y 25.</a:t>
            </a:r>
          </a:p>
        </p:txBody>
      </p:sp>
      <p:sp>
        <p:nvSpPr>
          <p:cNvPr id="13" name="Rectángulo redondeado 12"/>
          <p:cNvSpPr/>
          <p:nvPr/>
        </p:nvSpPr>
        <p:spPr>
          <a:xfrm>
            <a:off x="6096000" y="1632092"/>
            <a:ext cx="2358476" cy="65530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4, 7, 8, 13, 15, 17, 18, 19 y 26.</a:t>
            </a:r>
          </a:p>
        </p:txBody>
      </p:sp>
      <p:sp>
        <p:nvSpPr>
          <p:cNvPr id="14" name="Rectángulo redondeado 13"/>
          <p:cNvSpPr/>
          <p:nvPr/>
        </p:nvSpPr>
        <p:spPr>
          <a:xfrm>
            <a:off x="3308465" y="1487978"/>
            <a:ext cx="2544773" cy="8092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1,3,9,10 y 11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#Casos de prueba:6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2FD06D-3409-40CB-9661-648CD48B7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383" y="2362881"/>
            <a:ext cx="4167817" cy="27875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463B25-0672-4129-8DE7-C06C8487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10" y="3044985"/>
            <a:ext cx="3519090" cy="31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8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6011-F99E-45EA-93A9-85623D99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Dashboard</a:t>
            </a:r>
            <a:r>
              <a:rPr lang="es-CL" dirty="0"/>
              <a:t> Semana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AC380-EBD0-4EC0-B79D-E4EEB841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Marcador de número de diapositiva 3">
            <a:extLst>
              <a:ext uri="{FF2B5EF4-FFF2-40B4-BE49-F238E27FC236}">
                <a16:creationId xmlns:a16="http://schemas.microsoft.com/office/drawing/2014/main" id="{1617F56E-E7AF-4C08-84FE-B647DB98A69F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ángulo redondeado 4">
            <a:extLst>
              <a:ext uri="{FF2B5EF4-FFF2-40B4-BE49-F238E27FC236}">
                <a16:creationId xmlns:a16="http://schemas.microsoft.com/office/drawing/2014/main" id="{789F97BF-D17A-4A0C-95D5-2414688798C4}"/>
              </a:ext>
            </a:extLst>
          </p:cNvPr>
          <p:cNvSpPr/>
          <p:nvPr/>
        </p:nvSpPr>
        <p:spPr>
          <a:xfrm>
            <a:off x="46076" y="1362848"/>
            <a:ext cx="3029633" cy="1334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Historias Totales : 26</a:t>
            </a:r>
          </a:p>
          <a:p>
            <a:pPr algn="ctr"/>
            <a:r>
              <a:rPr lang="es-419" dirty="0"/>
              <a:t>Puntaje Total : 349</a:t>
            </a:r>
          </a:p>
          <a:p>
            <a:pPr algn="ctr"/>
            <a:r>
              <a:rPr lang="es-419" dirty="0"/>
              <a:t>Número de Sprints (3)</a:t>
            </a:r>
          </a:p>
          <a:p>
            <a:pPr algn="ctr"/>
            <a:r>
              <a:rPr lang="es-419" dirty="0"/>
              <a:t>Velocidad último Sprint</a:t>
            </a:r>
          </a:p>
          <a:p>
            <a:pPr algn="ctr"/>
            <a:r>
              <a:rPr lang="es-419" dirty="0"/>
              <a:t>(55/3)</a:t>
            </a:r>
          </a:p>
        </p:txBody>
      </p:sp>
      <p:sp>
        <p:nvSpPr>
          <p:cNvPr id="7" name="Rectángulo redondeado 8">
            <a:extLst>
              <a:ext uri="{FF2B5EF4-FFF2-40B4-BE49-F238E27FC236}">
                <a16:creationId xmlns:a16="http://schemas.microsoft.com/office/drawing/2014/main" id="{9835F2E2-C4AF-40A7-A639-6B2233D0C33C}"/>
              </a:ext>
            </a:extLst>
          </p:cNvPr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Ninguno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 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9" name="Rectángulo redondeado 11">
            <a:extLst>
              <a:ext uri="{FF2B5EF4-FFF2-40B4-BE49-F238E27FC236}">
                <a16:creationId xmlns:a16="http://schemas.microsoft.com/office/drawing/2014/main" id="{E0C63BC1-0494-47E7-A019-221502B4A646}"/>
              </a:ext>
            </a:extLst>
          </p:cNvPr>
          <p:cNvSpPr/>
          <p:nvPr/>
        </p:nvSpPr>
        <p:spPr>
          <a:xfrm>
            <a:off x="9234868" y="3429000"/>
            <a:ext cx="2358476" cy="8608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2, 5, 6, 12, 14, 16, 20, 21, 22, 23, 24 y 25.</a:t>
            </a:r>
          </a:p>
        </p:txBody>
      </p:sp>
      <p:sp>
        <p:nvSpPr>
          <p:cNvPr id="11" name="Rectángulo redondeado 13">
            <a:extLst>
              <a:ext uri="{FF2B5EF4-FFF2-40B4-BE49-F238E27FC236}">
                <a16:creationId xmlns:a16="http://schemas.microsoft.com/office/drawing/2014/main" id="{DA275D29-6941-4E8F-A2C3-8922D5B29238}"/>
              </a:ext>
            </a:extLst>
          </p:cNvPr>
          <p:cNvSpPr/>
          <p:nvPr/>
        </p:nvSpPr>
        <p:spPr>
          <a:xfrm>
            <a:off x="3210701" y="1389138"/>
            <a:ext cx="2478271" cy="8719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1,3,9,10,11 y 13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#Casos de prueba:6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F96B75-BD60-4609-A5E3-34FD7E821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442662"/>
              </p:ext>
            </p:extLst>
          </p:nvPr>
        </p:nvGraphicFramePr>
        <p:xfrm>
          <a:off x="5216883" y="2569540"/>
          <a:ext cx="3098800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4353119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981113022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4386752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Semanas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Esperado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Real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60563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51553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3377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3042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756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2319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8006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52160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4020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7181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49061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61593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6712281"/>
                  </a:ext>
                </a:extLst>
              </a:tr>
            </a:tbl>
          </a:graphicData>
        </a:graphic>
      </p:graphicFrame>
      <p:graphicFrame>
        <p:nvGraphicFramePr>
          <p:cNvPr id="16" name="Gráfico 2">
            <a:extLst>
              <a:ext uri="{FF2B5EF4-FFF2-40B4-BE49-F238E27FC236}">
                <a16:creationId xmlns:a16="http://schemas.microsoft.com/office/drawing/2014/main" id="{D69E9921-DCAC-4D1F-B159-64A88E6485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2059563"/>
              </p:ext>
            </p:extLst>
          </p:nvPr>
        </p:nvGraphicFramePr>
        <p:xfrm>
          <a:off x="127594" y="2723035"/>
          <a:ext cx="45720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ectángulo redondeado 12">
            <a:extLst>
              <a:ext uri="{FF2B5EF4-FFF2-40B4-BE49-F238E27FC236}">
                <a16:creationId xmlns:a16="http://schemas.microsoft.com/office/drawing/2014/main" id="{87BE11C8-0F4A-4371-97D5-F409E807E77D}"/>
              </a:ext>
            </a:extLst>
          </p:cNvPr>
          <p:cNvSpPr/>
          <p:nvPr/>
        </p:nvSpPr>
        <p:spPr>
          <a:xfrm>
            <a:off x="5823964" y="1489570"/>
            <a:ext cx="2358476" cy="65530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7, 8, 15, 17, 18, 19 y 26.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77AB3311-E793-4239-844F-089F76F31F30}"/>
              </a:ext>
            </a:extLst>
          </p:cNvPr>
          <p:cNvSpPr/>
          <p:nvPr/>
        </p:nvSpPr>
        <p:spPr>
          <a:xfrm>
            <a:off x="3797793" y="5225909"/>
            <a:ext cx="8348131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dirty="0"/>
              <a:t>Narrativa de avance del proyecto</a:t>
            </a:r>
          </a:p>
          <a:p>
            <a:pPr algn="ctr"/>
            <a:r>
              <a:rPr lang="es-CL" sz="1600" dirty="0"/>
              <a:t>Hitos relevantes: En esta semana incorporamos diseños de pagina principal para la vista del cliente, se agregaron más historias por realizar</a:t>
            </a:r>
            <a:r>
              <a:rPr lang="es-ES" sz="1600" dirty="0"/>
              <a:t>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11390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D3675-53A8-4FD1-969C-2CE653A4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75EB4A-EB53-408C-8A3B-E0A78A81245E}"/>
              </a:ext>
            </a:extLst>
          </p:cNvPr>
          <p:cNvSpPr txBox="1">
            <a:spLocks/>
          </p:cNvSpPr>
          <p:nvPr/>
        </p:nvSpPr>
        <p:spPr>
          <a:xfrm>
            <a:off x="604433" y="124037"/>
            <a:ext cx="10749367" cy="1208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 err="1"/>
              <a:t>Dashboard</a:t>
            </a:r>
            <a:r>
              <a:rPr lang="es-CL" dirty="0"/>
              <a:t> Semana 4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83ACAD-CB34-43A7-A5E2-27FDE1389988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CFC7EC9D-AF28-47E7-B153-DC039625F3A0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Rectángulo redondeado 4">
            <a:extLst>
              <a:ext uri="{FF2B5EF4-FFF2-40B4-BE49-F238E27FC236}">
                <a16:creationId xmlns:a16="http://schemas.microsoft.com/office/drawing/2014/main" id="{982EC561-67C1-422D-9C3E-0CE8FF27783D}"/>
              </a:ext>
            </a:extLst>
          </p:cNvPr>
          <p:cNvSpPr/>
          <p:nvPr/>
        </p:nvSpPr>
        <p:spPr>
          <a:xfrm>
            <a:off x="46076" y="1362848"/>
            <a:ext cx="3029633" cy="1334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Historias Totales : 26</a:t>
            </a:r>
          </a:p>
          <a:p>
            <a:pPr algn="ctr"/>
            <a:r>
              <a:rPr lang="es-419" dirty="0"/>
              <a:t>Puntaje Total : 349</a:t>
            </a:r>
          </a:p>
          <a:p>
            <a:pPr algn="ctr"/>
            <a:r>
              <a:rPr lang="es-419" dirty="0"/>
              <a:t>Número de Sprints (3)</a:t>
            </a:r>
          </a:p>
          <a:p>
            <a:pPr algn="ctr"/>
            <a:r>
              <a:rPr lang="es-419" dirty="0"/>
              <a:t>Velocidad último Sprint</a:t>
            </a:r>
          </a:p>
          <a:p>
            <a:pPr algn="ctr"/>
            <a:r>
              <a:rPr lang="es-419" dirty="0"/>
              <a:t>(55/3)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D0FB8675-EB17-4372-A8FF-235596716788}"/>
              </a:ext>
            </a:extLst>
          </p:cNvPr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Ninguno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 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84829108-589F-49E9-96F3-03A1E7DCEF09}"/>
              </a:ext>
            </a:extLst>
          </p:cNvPr>
          <p:cNvSpPr/>
          <p:nvPr/>
        </p:nvSpPr>
        <p:spPr>
          <a:xfrm>
            <a:off x="3797793" y="5225909"/>
            <a:ext cx="8348131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dirty="0"/>
              <a:t>Narrativa de avance del proyecto</a:t>
            </a:r>
          </a:p>
          <a:p>
            <a:pPr algn="ctr"/>
            <a:r>
              <a:rPr lang="es-CL" sz="1600" dirty="0"/>
              <a:t>Hitos relevantes: </a:t>
            </a:r>
            <a:r>
              <a:rPr lang="es-ES" sz="1600" dirty="0"/>
              <a:t>En esta semana no hubo avance en proyecto, solo definición de futuros procesos debido al retraso en clases y del trabajo, se definieron nuevas historias que pasan a en proceso</a:t>
            </a:r>
            <a:endParaRPr lang="es-419" sz="1600" dirty="0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576E0022-2341-4977-9B04-424D7693177D}"/>
              </a:ext>
            </a:extLst>
          </p:cNvPr>
          <p:cNvSpPr/>
          <p:nvPr/>
        </p:nvSpPr>
        <p:spPr>
          <a:xfrm>
            <a:off x="9234868" y="3429000"/>
            <a:ext cx="2358476" cy="8608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2, 5, 6, 12, 14, 16, 22, 23, 24 y 25.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6388F48-0C55-418A-9E6B-DA88AD9B048C}"/>
              </a:ext>
            </a:extLst>
          </p:cNvPr>
          <p:cNvSpPr/>
          <p:nvPr/>
        </p:nvSpPr>
        <p:spPr>
          <a:xfrm>
            <a:off x="6006392" y="1375588"/>
            <a:ext cx="2358476" cy="65530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7, 8, 15, 17, 18, 19, 20, 21, 23, 26.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3846B674-3361-4E04-9548-A347355CB560}"/>
              </a:ext>
            </a:extLst>
          </p:cNvPr>
          <p:cNvSpPr/>
          <p:nvPr/>
        </p:nvSpPr>
        <p:spPr>
          <a:xfrm>
            <a:off x="3210701" y="1389138"/>
            <a:ext cx="2478271" cy="8719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1,3,4,9,10,11 y 13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#Casos de prueba:6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5B2C75C-144F-4EF5-866C-C0470BA64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22798"/>
              </p:ext>
            </p:extLst>
          </p:nvPr>
        </p:nvGraphicFramePr>
        <p:xfrm>
          <a:off x="5093676" y="2463348"/>
          <a:ext cx="3098800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700560266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186029131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49285568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Semanas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Esperado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Real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3415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9029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0962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3999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74853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36696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08812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67648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147375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3421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5170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66264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23915"/>
                  </a:ext>
                </a:extLst>
              </a:tr>
            </a:tbl>
          </a:graphicData>
        </a:graphic>
      </p:graphicFrame>
      <p:graphicFrame>
        <p:nvGraphicFramePr>
          <p:cNvPr id="19" name="Gráfico 2">
            <a:extLst>
              <a:ext uri="{FF2B5EF4-FFF2-40B4-BE49-F238E27FC236}">
                <a16:creationId xmlns:a16="http://schemas.microsoft.com/office/drawing/2014/main" id="{D69E9921-DCAC-4D1F-B159-64A88E6485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3449631"/>
              </p:ext>
            </p:extLst>
          </p:nvPr>
        </p:nvGraphicFramePr>
        <p:xfrm>
          <a:off x="174702" y="2687635"/>
          <a:ext cx="45720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9985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D3675-53A8-4FD1-969C-2CE653A4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75EB4A-EB53-408C-8A3B-E0A78A81245E}"/>
              </a:ext>
            </a:extLst>
          </p:cNvPr>
          <p:cNvSpPr txBox="1">
            <a:spLocks/>
          </p:cNvSpPr>
          <p:nvPr/>
        </p:nvSpPr>
        <p:spPr>
          <a:xfrm>
            <a:off x="604433" y="124037"/>
            <a:ext cx="10749367" cy="1208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 err="1"/>
              <a:t>Dashboard</a:t>
            </a:r>
            <a:r>
              <a:rPr lang="es-CL" dirty="0"/>
              <a:t> Semana 5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83ACAD-CB34-43A7-A5E2-27FDE1389988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CFC7EC9D-AF28-47E7-B153-DC039625F3A0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Rectángulo redondeado 4">
            <a:extLst>
              <a:ext uri="{FF2B5EF4-FFF2-40B4-BE49-F238E27FC236}">
                <a16:creationId xmlns:a16="http://schemas.microsoft.com/office/drawing/2014/main" id="{982EC561-67C1-422D-9C3E-0CE8FF27783D}"/>
              </a:ext>
            </a:extLst>
          </p:cNvPr>
          <p:cNvSpPr/>
          <p:nvPr/>
        </p:nvSpPr>
        <p:spPr>
          <a:xfrm>
            <a:off x="46076" y="1362848"/>
            <a:ext cx="3029633" cy="1334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Historias Totales : 26</a:t>
            </a:r>
          </a:p>
          <a:p>
            <a:pPr algn="ctr"/>
            <a:r>
              <a:rPr lang="es-419" dirty="0"/>
              <a:t>Puntaje Total : 349</a:t>
            </a:r>
          </a:p>
          <a:p>
            <a:pPr algn="ctr"/>
            <a:r>
              <a:rPr lang="es-419" dirty="0"/>
              <a:t>Número de Sprints (3)</a:t>
            </a:r>
          </a:p>
          <a:p>
            <a:pPr algn="ctr"/>
            <a:r>
              <a:rPr lang="es-419" dirty="0"/>
              <a:t>Velocidad último Sprint</a:t>
            </a:r>
          </a:p>
          <a:p>
            <a:pPr algn="ctr"/>
            <a:r>
              <a:rPr lang="es-419" dirty="0"/>
              <a:t>(55/3)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D0FB8675-EB17-4372-A8FF-235596716788}"/>
              </a:ext>
            </a:extLst>
          </p:cNvPr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Ninguno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 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576E0022-2341-4977-9B04-424D7693177D}"/>
              </a:ext>
            </a:extLst>
          </p:cNvPr>
          <p:cNvSpPr/>
          <p:nvPr/>
        </p:nvSpPr>
        <p:spPr>
          <a:xfrm>
            <a:off x="9234868" y="3429000"/>
            <a:ext cx="2358476" cy="8608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2, 5, 6, 12, 14, 16, 22, 23, 24 y 25.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6388F48-0C55-418A-9E6B-DA88AD9B048C}"/>
              </a:ext>
            </a:extLst>
          </p:cNvPr>
          <p:cNvSpPr/>
          <p:nvPr/>
        </p:nvSpPr>
        <p:spPr>
          <a:xfrm>
            <a:off x="6006392" y="1375588"/>
            <a:ext cx="2358476" cy="65530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7, 8, 15, 17, 18, 19, 20, 21, 23, 26.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3846B674-3361-4E04-9548-A347355CB560}"/>
              </a:ext>
            </a:extLst>
          </p:cNvPr>
          <p:cNvSpPr/>
          <p:nvPr/>
        </p:nvSpPr>
        <p:spPr>
          <a:xfrm>
            <a:off x="3210701" y="1389138"/>
            <a:ext cx="2478271" cy="8719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1,3,4,9,10,11 y 13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#Casos de prueba:6</a:t>
            </a:r>
          </a:p>
        </p:txBody>
      </p:sp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52F9800A-56F5-4249-96F4-6933ABBB7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229" y="2458214"/>
            <a:ext cx="3086531" cy="2476846"/>
          </a:xfrm>
          <a:prstGeom prst="rect">
            <a:avLst/>
          </a:prstGeom>
        </p:spPr>
      </p:pic>
      <p:pic>
        <p:nvPicPr>
          <p:cNvPr id="15" name="Imagen 14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C57C42FF-A56D-493F-8DFA-57F683977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1" y="2882187"/>
            <a:ext cx="4283331" cy="2612965"/>
          </a:xfrm>
          <a:prstGeom prst="rect">
            <a:avLst/>
          </a:prstGeom>
        </p:spPr>
      </p:pic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84829108-589F-49E9-96F3-03A1E7DCEF09}"/>
              </a:ext>
            </a:extLst>
          </p:cNvPr>
          <p:cNvSpPr/>
          <p:nvPr/>
        </p:nvSpPr>
        <p:spPr>
          <a:xfrm>
            <a:off x="3797793" y="5225909"/>
            <a:ext cx="8348131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dirty="0"/>
              <a:t>Narrativa de avance del proyecto:</a:t>
            </a:r>
          </a:p>
          <a:p>
            <a:pPr algn="ctr"/>
            <a:r>
              <a:rPr lang="es-419" sz="1600" dirty="0"/>
              <a:t>En este avance se comenzara con le ejecución del sprint 2, en el cual se abarcara avanzar en la reserva de clientes con el objetivo de trabajar en el back-</a:t>
            </a:r>
            <a:r>
              <a:rPr lang="es-419" sz="1600" dirty="0" err="1"/>
              <a:t>end</a:t>
            </a:r>
            <a:r>
              <a:rPr lang="es-419" sz="1600"/>
              <a:t>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385944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B6D77-32E5-4B05-A1D0-5CC5F46D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Avance semanal 6</a:t>
            </a:r>
            <a:endParaRPr lang="es-ES" dirty="0"/>
          </a:p>
        </p:txBody>
      </p:sp>
      <p:graphicFrame>
        <p:nvGraphicFramePr>
          <p:cNvPr id="27" name="Marcador de contenido 26">
            <a:extLst>
              <a:ext uri="{FF2B5EF4-FFF2-40B4-BE49-F238E27FC236}">
                <a16:creationId xmlns:a16="http://schemas.microsoft.com/office/drawing/2014/main" id="{14834B4C-B83C-4563-A767-0F16BA5DD5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272635"/>
              </p:ext>
            </p:extLst>
          </p:nvPr>
        </p:nvGraphicFramePr>
        <p:xfrm>
          <a:off x="4887600" y="2491143"/>
          <a:ext cx="3084258" cy="2542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481760459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876213681"/>
                    </a:ext>
                  </a:extLst>
                </a:gridCol>
                <a:gridCol w="1103058">
                  <a:extLst>
                    <a:ext uri="{9D8B030D-6E8A-4147-A177-3AD203B41FA5}">
                      <a16:colId xmlns:a16="http://schemas.microsoft.com/office/drawing/2014/main" val="1121916774"/>
                    </a:ext>
                  </a:extLst>
                </a:gridCol>
              </a:tblGrid>
              <a:tr h="276855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Semanas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Esperado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Real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999317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349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301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943417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317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301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65972655"/>
                  </a:ext>
                </a:extLst>
              </a:tr>
              <a:tr h="2542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286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8264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254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2048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222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263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05283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190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254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68996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159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37309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127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062351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95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55669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63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81822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4206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40945943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6E9AC7-CA99-4C01-AB18-66E723E5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7</a:t>
            </a:fld>
            <a:endParaRPr lang="en-US" dirty="0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E09B9BA-03CE-447A-8EF0-8BC4A66FB6DE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5322C8A-76F4-462D-B4C0-E96E244D9E23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Marcador de número de diapositiva 3">
            <a:extLst>
              <a:ext uri="{FF2B5EF4-FFF2-40B4-BE49-F238E27FC236}">
                <a16:creationId xmlns:a16="http://schemas.microsoft.com/office/drawing/2014/main" id="{9B0B5FCA-9E75-4879-BF39-BAEBB537D75D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9" name="Rectángulo redondeado 4">
            <a:extLst>
              <a:ext uri="{FF2B5EF4-FFF2-40B4-BE49-F238E27FC236}">
                <a16:creationId xmlns:a16="http://schemas.microsoft.com/office/drawing/2014/main" id="{3BD65F18-CDC6-45D6-ADC1-5E6CCDBBF095}"/>
              </a:ext>
            </a:extLst>
          </p:cNvPr>
          <p:cNvSpPr/>
          <p:nvPr/>
        </p:nvSpPr>
        <p:spPr>
          <a:xfrm>
            <a:off x="46076" y="1362848"/>
            <a:ext cx="3029633" cy="1334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Historias Totales : 26</a:t>
            </a:r>
          </a:p>
          <a:p>
            <a:pPr algn="ctr"/>
            <a:r>
              <a:rPr lang="es-419" dirty="0"/>
              <a:t>Puntaje Total : 349</a:t>
            </a:r>
          </a:p>
          <a:p>
            <a:pPr algn="ctr"/>
            <a:r>
              <a:rPr lang="es-419" dirty="0"/>
              <a:t>Número de Sprints (3)</a:t>
            </a:r>
          </a:p>
          <a:p>
            <a:pPr algn="ctr"/>
            <a:r>
              <a:rPr lang="es-419" dirty="0"/>
              <a:t>Velocidad último Sprint</a:t>
            </a:r>
          </a:p>
          <a:p>
            <a:pPr algn="ctr"/>
            <a:r>
              <a:rPr lang="es-419" dirty="0"/>
              <a:t>(95/3)</a:t>
            </a:r>
          </a:p>
        </p:txBody>
      </p:sp>
      <p:sp>
        <p:nvSpPr>
          <p:cNvPr id="20" name="Rectángulo redondeado 8">
            <a:extLst>
              <a:ext uri="{FF2B5EF4-FFF2-40B4-BE49-F238E27FC236}">
                <a16:creationId xmlns:a16="http://schemas.microsoft.com/office/drawing/2014/main" id="{E23BCE4F-6305-4622-86C7-1FD299FA0533}"/>
              </a:ext>
            </a:extLst>
          </p:cNvPr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Ninguno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 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21" name="Rectángulo redondeado 11">
            <a:extLst>
              <a:ext uri="{FF2B5EF4-FFF2-40B4-BE49-F238E27FC236}">
                <a16:creationId xmlns:a16="http://schemas.microsoft.com/office/drawing/2014/main" id="{67BD4DFD-857F-4553-99C5-7201F85969F0}"/>
              </a:ext>
            </a:extLst>
          </p:cNvPr>
          <p:cNvSpPr/>
          <p:nvPr/>
        </p:nvSpPr>
        <p:spPr>
          <a:xfrm>
            <a:off x="9234868" y="3429000"/>
            <a:ext cx="2358476" cy="86089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5, 6, 12, 16, 22, 23, 24 y 25.</a:t>
            </a:r>
          </a:p>
        </p:txBody>
      </p:sp>
      <p:sp>
        <p:nvSpPr>
          <p:cNvPr id="22" name="Rectángulo redondeado 12">
            <a:extLst>
              <a:ext uri="{FF2B5EF4-FFF2-40B4-BE49-F238E27FC236}">
                <a16:creationId xmlns:a16="http://schemas.microsoft.com/office/drawing/2014/main" id="{930E9456-24F1-4977-A33F-D288E06AE992}"/>
              </a:ext>
            </a:extLst>
          </p:cNvPr>
          <p:cNvSpPr/>
          <p:nvPr/>
        </p:nvSpPr>
        <p:spPr>
          <a:xfrm>
            <a:off x="6006392" y="1375588"/>
            <a:ext cx="2358476" cy="871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2, 7, 8, 15, 19</a:t>
            </a:r>
          </a:p>
        </p:txBody>
      </p:sp>
      <p:sp>
        <p:nvSpPr>
          <p:cNvPr id="23" name="Rectángulo redondeado 13">
            <a:extLst>
              <a:ext uri="{FF2B5EF4-FFF2-40B4-BE49-F238E27FC236}">
                <a16:creationId xmlns:a16="http://schemas.microsoft.com/office/drawing/2014/main" id="{4927D4F2-023B-4172-854D-0094FAADC46A}"/>
              </a:ext>
            </a:extLst>
          </p:cNvPr>
          <p:cNvSpPr/>
          <p:nvPr/>
        </p:nvSpPr>
        <p:spPr>
          <a:xfrm>
            <a:off x="3210701" y="1389138"/>
            <a:ext cx="2478271" cy="8719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Historia 1,3,4,9,10,11 , 13,14,17,18,20,26</a:t>
            </a:r>
          </a:p>
          <a:p>
            <a:pPr algn="ctr"/>
            <a:r>
              <a:rPr lang="es-419" dirty="0">
                <a:solidFill>
                  <a:schemeClr val="tx1"/>
                </a:solidFill>
              </a:rPr>
              <a:t>#Casos de prueba:8</a:t>
            </a:r>
          </a:p>
        </p:txBody>
      </p:sp>
      <p:sp>
        <p:nvSpPr>
          <p:cNvPr id="26" name="Rectángulo redondeado 9">
            <a:extLst>
              <a:ext uri="{FF2B5EF4-FFF2-40B4-BE49-F238E27FC236}">
                <a16:creationId xmlns:a16="http://schemas.microsoft.com/office/drawing/2014/main" id="{DB1EA8FE-573D-4ACB-A43E-3BB8D92F9863}"/>
              </a:ext>
            </a:extLst>
          </p:cNvPr>
          <p:cNvSpPr/>
          <p:nvPr/>
        </p:nvSpPr>
        <p:spPr>
          <a:xfrm>
            <a:off x="3797793" y="5225909"/>
            <a:ext cx="8348131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600" dirty="0"/>
              <a:t>Narrativa de avance del proyecto:</a:t>
            </a:r>
          </a:p>
          <a:p>
            <a:pPr algn="ctr"/>
            <a:r>
              <a:rPr lang="es-419" sz="1600" dirty="0"/>
              <a:t>En este avance se comenzara con la agenda de horas  para los clientes </a:t>
            </a:r>
          </a:p>
        </p:txBody>
      </p:sp>
      <p:graphicFrame>
        <p:nvGraphicFramePr>
          <p:cNvPr id="28" name="Gráfico 27">
            <a:extLst>
              <a:ext uri="{FF2B5EF4-FFF2-40B4-BE49-F238E27FC236}">
                <a16:creationId xmlns:a16="http://schemas.microsoft.com/office/drawing/2014/main" id="{D69E9921-DCAC-4D1F-B159-64A88E6485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088679"/>
              </p:ext>
            </p:extLst>
          </p:nvPr>
        </p:nvGraphicFramePr>
        <p:xfrm>
          <a:off x="-134349" y="3226111"/>
          <a:ext cx="4493285" cy="2542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346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98543-5F70-4DBE-AA3D-E0CF2C47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21B7CF1-4AB8-4C09-B450-1663EA787703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B9D56-748F-44AC-8612-ED0D1C0BBDFE}"/>
              </a:ext>
            </a:extLst>
          </p:cNvPr>
          <p:cNvSpPr txBox="1">
            <a:spLocks/>
          </p:cNvSpPr>
          <p:nvPr/>
        </p:nvSpPr>
        <p:spPr>
          <a:xfrm>
            <a:off x="604433" y="124037"/>
            <a:ext cx="10749367" cy="1208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 err="1"/>
              <a:t>Dashboard</a:t>
            </a:r>
            <a:r>
              <a:rPr lang="es-CL" dirty="0"/>
              <a:t> Semana 7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420A6C1-8802-432A-B26C-592FF7C9FEFD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2CECFBE7-6626-4221-B979-E219904CFA55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ángulo redondeado 4">
            <a:extLst>
              <a:ext uri="{FF2B5EF4-FFF2-40B4-BE49-F238E27FC236}">
                <a16:creationId xmlns:a16="http://schemas.microsoft.com/office/drawing/2014/main" id="{57881951-2A5D-4EC3-99A0-28460EAF222D}"/>
              </a:ext>
            </a:extLst>
          </p:cNvPr>
          <p:cNvSpPr/>
          <p:nvPr/>
        </p:nvSpPr>
        <p:spPr>
          <a:xfrm>
            <a:off x="46076" y="1362848"/>
            <a:ext cx="3029633" cy="1334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/>
              <a:t>Historias Totales : 26</a:t>
            </a:r>
          </a:p>
          <a:p>
            <a:pPr algn="just"/>
            <a:r>
              <a:rPr lang="es-419" dirty="0"/>
              <a:t>Puntaje Total : 349</a:t>
            </a:r>
          </a:p>
          <a:p>
            <a:pPr algn="just"/>
            <a:r>
              <a:rPr lang="es-419" dirty="0"/>
              <a:t>Número de Sprints (3)</a:t>
            </a:r>
          </a:p>
          <a:p>
            <a:pPr algn="just"/>
            <a:r>
              <a:rPr lang="es-419" dirty="0"/>
              <a:t>Velocidad último Sprint</a:t>
            </a:r>
          </a:p>
          <a:p>
            <a:pPr algn="just"/>
            <a:r>
              <a:rPr lang="es-419" dirty="0"/>
              <a:t>(55/3)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1F83365B-B5FC-4D79-9BDA-2A9FE03F9CC5}"/>
              </a:ext>
            </a:extLst>
          </p:cNvPr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Inicios de sesión diferenciados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6E43AC93-9599-4DD1-A53E-37EEF4768468}"/>
              </a:ext>
            </a:extLst>
          </p:cNvPr>
          <p:cNvSpPr/>
          <p:nvPr/>
        </p:nvSpPr>
        <p:spPr>
          <a:xfrm>
            <a:off x="4887600" y="5225909"/>
            <a:ext cx="7258324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600" dirty="0"/>
              <a:t>Narrativa de avance del proyecto</a:t>
            </a:r>
          </a:p>
          <a:p>
            <a:pPr algn="just"/>
            <a:r>
              <a:rPr lang="es-CL" sz="1600" dirty="0"/>
              <a:t>Hitos relevantes: En esta se encontraron errores los cuales generaron retrasos, se modificaron diagramas del proyecto para que tengan una mejor funcionalidad.</a:t>
            </a:r>
            <a:endParaRPr lang="es-419" sz="1600" dirty="0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194BFC92-0C0B-49DF-94CF-5DB5B4B766B8}"/>
              </a:ext>
            </a:extLst>
          </p:cNvPr>
          <p:cNvSpPr/>
          <p:nvPr/>
        </p:nvSpPr>
        <p:spPr>
          <a:xfrm>
            <a:off x="8682287" y="3428999"/>
            <a:ext cx="3463635" cy="1001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>
                <a:solidFill>
                  <a:schemeClr val="tx1"/>
                </a:solidFill>
              </a:rPr>
              <a:t>Historia 5, 6, 12, 16, 21, 22, 23, 24, 25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BE745457-9F8E-4555-9C6F-FF14BFCFC975}"/>
              </a:ext>
            </a:extLst>
          </p:cNvPr>
          <p:cNvSpPr/>
          <p:nvPr/>
        </p:nvSpPr>
        <p:spPr>
          <a:xfrm>
            <a:off x="5979116" y="1389137"/>
            <a:ext cx="2487770" cy="87194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>
                <a:solidFill>
                  <a:schemeClr val="tx1"/>
                </a:solidFill>
              </a:rPr>
              <a:t>Historia 7, 8, 15, 18, 19, 20, 21 </a:t>
            </a:r>
            <a:r>
              <a:rPr lang="es-ES" dirty="0">
                <a:solidFill>
                  <a:schemeClr val="tx1"/>
                </a:solidFill>
              </a:rPr>
              <a:t>y 26.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B6E6F11-4259-4BE3-AB51-9584171EBE98}"/>
              </a:ext>
            </a:extLst>
          </p:cNvPr>
          <p:cNvSpPr/>
          <p:nvPr/>
        </p:nvSpPr>
        <p:spPr>
          <a:xfrm>
            <a:off x="3210701" y="1389138"/>
            <a:ext cx="2666397" cy="8719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>
                <a:solidFill>
                  <a:schemeClr val="tx1"/>
                </a:solidFill>
              </a:rPr>
              <a:t>Historia </a:t>
            </a:r>
            <a:r>
              <a:rPr lang="es-ES" dirty="0">
                <a:solidFill>
                  <a:schemeClr val="tx1"/>
                </a:solidFill>
              </a:rPr>
              <a:t>1, 2, 3, 4, 9, 10, 11, 13, 14, </a:t>
            </a:r>
            <a:r>
              <a:rPr lang="es-419" dirty="0">
                <a:solidFill>
                  <a:schemeClr val="tx1"/>
                </a:solidFill>
              </a:rPr>
              <a:t>#Casos de prueba:4</a:t>
            </a:r>
          </a:p>
        </p:txBody>
      </p:sp>
      <p:graphicFrame>
        <p:nvGraphicFramePr>
          <p:cNvPr id="17" name="Marcador de contenido 26">
            <a:extLst>
              <a:ext uri="{FF2B5EF4-FFF2-40B4-BE49-F238E27FC236}">
                <a16:creationId xmlns:a16="http://schemas.microsoft.com/office/drawing/2014/main" id="{8FABCED7-EE40-4E8D-B6F8-E53A50C6C4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6949324"/>
              </p:ext>
            </p:extLst>
          </p:nvPr>
        </p:nvGraphicFramePr>
        <p:xfrm>
          <a:off x="4887600" y="2491143"/>
          <a:ext cx="3084258" cy="2542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481760459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876213681"/>
                    </a:ext>
                  </a:extLst>
                </a:gridCol>
                <a:gridCol w="1103058">
                  <a:extLst>
                    <a:ext uri="{9D8B030D-6E8A-4147-A177-3AD203B41FA5}">
                      <a16:colId xmlns:a16="http://schemas.microsoft.com/office/drawing/2014/main" val="1121916774"/>
                    </a:ext>
                  </a:extLst>
                </a:gridCol>
              </a:tblGrid>
              <a:tr h="276855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Semanas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Esperado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Real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999317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349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301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943417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317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301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65972655"/>
                  </a:ext>
                </a:extLst>
              </a:tr>
              <a:tr h="254291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286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8264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254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2048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222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263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05283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190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254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689965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159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265 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37309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127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062351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95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855669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63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81822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4206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40945943"/>
                  </a:ext>
                </a:extLst>
              </a:tr>
            </a:tbl>
          </a:graphicData>
        </a:graphic>
      </p:graphicFrame>
      <p:graphicFrame>
        <p:nvGraphicFramePr>
          <p:cNvPr id="18" name="Gráfico 2">
            <a:extLst>
              <a:ext uri="{FF2B5EF4-FFF2-40B4-BE49-F238E27FC236}">
                <a16:creationId xmlns:a16="http://schemas.microsoft.com/office/drawing/2014/main" id="{D69E9921-DCAC-4D1F-B159-64A88E6485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1680798"/>
              </p:ext>
            </p:extLst>
          </p:nvPr>
        </p:nvGraphicFramePr>
        <p:xfrm>
          <a:off x="0" y="2612607"/>
          <a:ext cx="45720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966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98543-5F70-4DBE-AA3D-E0CF2C47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21B7CF1-4AB8-4C09-B450-1663EA787703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4B9D56-748F-44AC-8612-ED0D1C0BBDFE}"/>
              </a:ext>
            </a:extLst>
          </p:cNvPr>
          <p:cNvSpPr txBox="1">
            <a:spLocks/>
          </p:cNvSpPr>
          <p:nvPr/>
        </p:nvSpPr>
        <p:spPr>
          <a:xfrm>
            <a:off x="604433" y="124037"/>
            <a:ext cx="10749367" cy="1208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 err="1"/>
              <a:t>Dashboard</a:t>
            </a:r>
            <a:r>
              <a:rPr lang="es-CL" dirty="0"/>
              <a:t> Semana 8</a:t>
            </a:r>
            <a:endParaRPr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420A6C1-8802-432A-B26C-592FF7C9FEFD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2CECFBE7-6626-4221-B979-E219904CFA55}"/>
              </a:ext>
            </a:extLst>
          </p:cNvPr>
          <p:cNvSpPr txBox="1">
            <a:spLocks/>
          </p:cNvSpPr>
          <p:nvPr/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Rectángulo redondeado 4">
            <a:extLst>
              <a:ext uri="{FF2B5EF4-FFF2-40B4-BE49-F238E27FC236}">
                <a16:creationId xmlns:a16="http://schemas.microsoft.com/office/drawing/2014/main" id="{57881951-2A5D-4EC3-99A0-28460EAF222D}"/>
              </a:ext>
            </a:extLst>
          </p:cNvPr>
          <p:cNvSpPr/>
          <p:nvPr/>
        </p:nvSpPr>
        <p:spPr>
          <a:xfrm>
            <a:off x="0" y="1278093"/>
            <a:ext cx="3029633" cy="1334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/>
              <a:t>Historias Totales : 26</a:t>
            </a:r>
          </a:p>
          <a:p>
            <a:pPr algn="just"/>
            <a:r>
              <a:rPr lang="es-419" dirty="0"/>
              <a:t>Puntaje Total : 349</a:t>
            </a:r>
          </a:p>
          <a:p>
            <a:pPr algn="just"/>
            <a:r>
              <a:rPr lang="es-419" dirty="0"/>
              <a:t>Número de Sprints (3)</a:t>
            </a:r>
          </a:p>
          <a:p>
            <a:pPr algn="just"/>
            <a:r>
              <a:rPr lang="es-419" dirty="0"/>
              <a:t>Velocidad último Sprint</a:t>
            </a:r>
          </a:p>
          <a:p>
            <a:pPr algn="just"/>
            <a:r>
              <a:rPr lang="es-419" dirty="0"/>
              <a:t>(121/3)</a:t>
            </a:r>
          </a:p>
        </p:txBody>
      </p:sp>
      <p:sp>
        <p:nvSpPr>
          <p:cNvPr id="10" name="Rectángulo redondeado 8">
            <a:extLst>
              <a:ext uri="{FF2B5EF4-FFF2-40B4-BE49-F238E27FC236}">
                <a16:creationId xmlns:a16="http://schemas.microsoft.com/office/drawing/2014/main" id="{1F83365B-B5FC-4D79-9BDA-2A9FE03F9CC5}"/>
              </a:ext>
            </a:extLst>
          </p:cNvPr>
          <p:cNvSpPr/>
          <p:nvPr/>
        </p:nvSpPr>
        <p:spPr>
          <a:xfrm>
            <a:off x="8682288" y="1410731"/>
            <a:ext cx="3463636" cy="188942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Último </a:t>
            </a:r>
            <a:r>
              <a:rPr lang="es-ES" sz="1600" dirty="0" err="1">
                <a:solidFill>
                  <a:schemeClr val="tx1"/>
                </a:solidFill>
              </a:rPr>
              <a:t>build</a:t>
            </a:r>
            <a:r>
              <a:rPr lang="es-ES" sz="1600" dirty="0">
                <a:solidFill>
                  <a:schemeClr val="tx1"/>
                </a:solidFill>
              </a:rPr>
              <a:t>: 2020/07/09  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Estado: Pass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Defectos: Inicios de sesión diferenciados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100% cobertura de las pruebas</a:t>
            </a:r>
          </a:p>
          <a:p>
            <a:pPr algn="ctr"/>
            <a:r>
              <a:rPr lang="es-ES" sz="1600" dirty="0">
                <a:solidFill>
                  <a:schemeClr val="tx1"/>
                </a:solidFill>
              </a:rPr>
              <a:t>Métricas de calidad: Excelente[Esperado] / Excelente[Real]</a:t>
            </a:r>
            <a:endParaRPr lang="es-419" sz="1600" dirty="0">
              <a:solidFill>
                <a:schemeClr val="tx1"/>
              </a:solidFill>
            </a:endParaRP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6E43AC93-9599-4DD1-A53E-37EEF4768468}"/>
              </a:ext>
            </a:extLst>
          </p:cNvPr>
          <p:cNvSpPr/>
          <p:nvPr/>
        </p:nvSpPr>
        <p:spPr>
          <a:xfrm>
            <a:off x="3771071" y="5295242"/>
            <a:ext cx="7258324" cy="14955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600" dirty="0"/>
              <a:t>Narrativa de avance del proyecto: Se finalizo la reserva de horas realizando pruebas exitosas, pero se implementara el tipo de usuario en el siguiente sprint para que los clientes puedan realizar </a:t>
            </a:r>
            <a:r>
              <a:rPr lang="es-419" sz="1600"/>
              <a:t>su reserva, </a:t>
            </a:r>
            <a:r>
              <a:rPr lang="es-419" sz="1600" dirty="0"/>
              <a:t>mas modificación de informe del proyecto </a:t>
            </a:r>
          </a:p>
          <a:p>
            <a:pPr algn="just"/>
            <a:endParaRPr lang="es-419" sz="1600" dirty="0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194BFC92-0C0B-49DF-94CF-5DB5B4B766B8}"/>
              </a:ext>
            </a:extLst>
          </p:cNvPr>
          <p:cNvSpPr/>
          <p:nvPr/>
        </p:nvSpPr>
        <p:spPr>
          <a:xfrm>
            <a:off x="8682287" y="3428999"/>
            <a:ext cx="3463635" cy="1001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>
                <a:solidFill>
                  <a:schemeClr val="tx1"/>
                </a:solidFill>
              </a:rPr>
              <a:t>Historia 5, 12, 16, 21, 22, 23, 24, 25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BE745457-9F8E-4555-9C6F-FF14BFCFC975}"/>
              </a:ext>
            </a:extLst>
          </p:cNvPr>
          <p:cNvSpPr/>
          <p:nvPr/>
        </p:nvSpPr>
        <p:spPr>
          <a:xfrm>
            <a:off x="5979116" y="1389137"/>
            <a:ext cx="2487770" cy="87194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>
                <a:solidFill>
                  <a:schemeClr val="tx1"/>
                </a:solidFill>
              </a:rPr>
              <a:t>Historia 8, 15, 18, 19, 20, 21 </a:t>
            </a:r>
            <a:r>
              <a:rPr lang="es-ES" dirty="0">
                <a:solidFill>
                  <a:schemeClr val="tx1"/>
                </a:solidFill>
              </a:rPr>
              <a:t>y 26.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B6E6F11-4259-4BE3-AB51-9584171EBE98}"/>
              </a:ext>
            </a:extLst>
          </p:cNvPr>
          <p:cNvSpPr/>
          <p:nvPr/>
        </p:nvSpPr>
        <p:spPr>
          <a:xfrm>
            <a:off x="3210701" y="1389138"/>
            <a:ext cx="2666397" cy="8719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dirty="0">
                <a:solidFill>
                  <a:schemeClr val="tx1"/>
                </a:solidFill>
              </a:rPr>
              <a:t>Historia </a:t>
            </a:r>
            <a:r>
              <a:rPr lang="es-ES" dirty="0">
                <a:solidFill>
                  <a:schemeClr val="tx1"/>
                </a:solidFill>
              </a:rPr>
              <a:t>1, 2, 3, 4, 6, 7 9, 10, 11, 13, 14, </a:t>
            </a:r>
            <a:r>
              <a:rPr lang="es-419" dirty="0">
                <a:solidFill>
                  <a:schemeClr val="tx1"/>
                </a:solidFill>
              </a:rPr>
              <a:t>#Casos de prueba:5</a:t>
            </a:r>
          </a:p>
        </p:txBody>
      </p:sp>
      <p:graphicFrame>
        <p:nvGraphicFramePr>
          <p:cNvPr id="15" name="Marcador de contenido 14">
            <a:extLst>
              <a:ext uri="{FF2B5EF4-FFF2-40B4-BE49-F238E27FC236}">
                <a16:creationId xmlns:a16="http://schemas.microsoft.com/office/drawing/2014/main" id="{7940F2C1-CE1E-4338-9DA0-209843D17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639163"/>
              </p:ext>
            </p:extLst>
          </p:nvPr>
        </p:nvGraphicFramePr>
        <p:xfrm>
          <a:off x="46076" y="2917802"/>
          <a:ext cx="31877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4257577625"/>
                    </a:ext>
                  </a:extLst>
                </a:gridCol>
                <a:gridCol w="1204905">
                  <a:extLst>
                    <a:ext uri="{9D8B030D-6E8A-4147-A177-3AD203B41FA5}">
                      <a16:colId xmlns:a16="http://schemas.microsoft.com/office/drawing/2014/main" val="724387730"/>
                    </a:ext>
                  </a:extLst>
                </a:gridCol>
                <a:gridCol w="1195395">
                  <a:extLst>
                    <a:ext uri="{9D8B030D-6E8A-4147-A177-3AD203B41FA5}">
                      <a16:colId xmlns:a16="http://schemas.microsoft.com/office/drawing/2014/main" val="328597136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Semanas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Esperado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Real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3263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349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301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239527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317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301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01135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286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607020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254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90494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222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253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397012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190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244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712899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159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265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75796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127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228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21968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95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775162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63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460796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32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34351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12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>
                          <a:effectLst/>
                        </a:rPr>
                        <a:t>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886557"/>
                  </a:ext>
                </a:extLst>
              </a:tr>
            </a:tbl>
          </a:graphicData>
        </a:graphic>
      </p:graphicFrame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D69E9921-DCAC-4D1F-B159-64A88E6485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584979"/>
              </p:ext>
            </p:extLst>
          </p:nvPr>
        </p:nvGraphicFramePr>
        <p:xfrm>
          <a:off x="3029633" y="2355445"/>
          <a:ext cx="4709160" cy="3011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636254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8DBC0A1-66E1-4B9D-88C2-9B3A32A214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Bienvenido a PowerPoint</Template>
  <TotalTime>0</TotalTime>
  <Words>1484</Words>
  <Application>Microsoft Office PowerPoint</Application>
  <PresentationFormat>Panorámica</PresentationFormat>
  <Paragraphs>419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Grupo n°6 Digitalizacion de una Peluqueria </vt:lpstr>
      <vt:lpstr>Dashboard Semana 1</vt:lpstr>
      <vt:lpstr>Dashboard Semana 2</vt:lpstr>
      <vt:lpstr>Dashboard Semana 3</vt:lpstr>
      <vt:lpstr>Presentación de PowerPoint</vt:lpstr>
      <vt:lpstr>Presentación de PowerPoint</vt:lpstr>
      <vt:lpstr>Avance semanal 6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2014-07-14T23:40:50Z</dcterms:created>
  <dcterms:modified xsi:type="dcterms:W3CDTF">2020-10-30T19:55:17Z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